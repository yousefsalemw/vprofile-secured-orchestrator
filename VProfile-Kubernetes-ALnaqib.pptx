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VProfile on Kubernetes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· KUBERNETES · MICROSERVICES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VProfile on Kubernetes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 multi-tier Java application as four secure microservices on a highly-available cluster.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713939" cy="475488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27139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6-node HA cluster · RHEL 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2931" y="4251960"/>
            <a:ext cx="2355494" cy="475488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2931" y="4251960"/>
            <a:ext cx="235549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 secure images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4458" y="4251960"/>
            <a:ext cx="1997050" cy="475488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5875">
            <a:solidFill>
              <a:srgbClr val="5B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4458" y="4251960"/>
            <a:ext cx="199705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Fronted by HAProxy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Yousef Salem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 · ALnaqib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VProfile is a classic multi-tier Java (Spring MVC) web application — a small social-network demo whose stack mirrors real enterprise systems.</a:t>
            </a:r>
            <a:endParaRPr lang="en-US" sz="1550" dirty="0"/>
          </a:p>
          <a:p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its original form each tier ran on its own VM (Vagrant). The goal here: re-platform it as independent microservices on Kubernetes — self-healing, scalable, and reproducible.</a:t>
            </a:r>
            <a:endParaRPr lang="en-US" sz="15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50" i="1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Nginx web tier is dropped — the existing HAProxy plays that role at the cluster edge.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35040" y="178308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54496" y="2020824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2938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54496" y="244144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Tomcat 9 · Java WAR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24544" y="178308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020824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/>
          <p:nvPr/>
        </p:nvSpPr>
        <p:spPr>
          <a:xfrm>
            <a:off x="9381744" y="192938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44144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8.0 · accounts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4290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41E33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3666744"/>
            <a:ext cx="146304" cy="146304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57530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4496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Memcached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24544" y="34290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3666744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/>
          <p:nvPr/>
        </p:nvSpPr>
        <p:spPr>
          <a:xfrm>
            <a:off x="9381744" y="357530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2648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microservices, one namespace: vprofile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ORGANIZED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114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Laid out like a real production repository — every concern in its own place: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hardened Dockerfile per service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k8s/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manifests, numbered in apply order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haproxy/  ·  scripts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config + build &amp; deploy automation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0056" y="1545336"/>
            <a:ext cx="6419088" cy="3599593"/>
          </a:xfrm>
          <a:prstGeom prst="roundRect">
            <a:avLst>
              <a:gd name="adj" fmla="val 1524"/>
            </a:avLst>
          </a:prstGeom>
          <a:solidFill>
            <a:srgbClr val="0F1728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home/claude/ppt/shots/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00200"/>
            <a:ext cx="6309360" cy="3489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5199793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tree  ·  Vprofile-K8s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0" descr="/home/claude/ppt/diagram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54480"/>
            <a:ext cx="8778240" cy="44611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→ HAProxy → NodePort (app01) → app pods → db01 · mc01 · rmq01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RUNS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 · AWS VPC</a:t>
            </a:r>
            <a:endParaRPr lang="en-US" sz="3200" dirty="0"/>
          </a:p>
        </p:txBody>
      </p:sp>
      <p:pic>
        <p:nvPicPr>
          <p:cNvPr id="4" name="Image 0" descr="/home/claude/ppt/diagrams/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7452360" cy="4177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874520"/>
            <a:ext cx="347472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5048" y="207568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7" name="Text 4"/>
          <p:cNvSpPr/>
          <p:nvPr/>
        </p:nvSpPr>
        <p:spPr>
          <a:xfrm>
            <a:off x="8622792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Availability Zones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5048" y="231343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eu-north-1a / 1b — real HA spread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2944368"/>
            <a:ext cx="347472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85048" y="3145536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8"/>
          <p:cNvSpPr/>
          <p:nvPr/>
        </p:nvSpPr>
        <p:spPr>
          <a:xfrm>
            <a:off x="8622792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private split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385048" y="338328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subnets: HAProxy &amp; NAT public, nodes private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4014216"/>
            <a:ext cx="347472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85048" y="4215384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" name="Text 12"/>
          <p:cNvSpPr/>
          <p:nvPr/>
        </p:nvSpPr>
        <p:spPr>
          <a:xfrm>
            <a:off x="8622792" y="4105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egress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85048" y="445312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nodes reach the internet via NAT → IGW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83880" y="5084064"/>
            <a:ext cx="347472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85048" y="528523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/>
          <p:nvPr/>
        </p:nvSpPr>
        <p:spPr>
          <a:xfrm>
            <a:off x="8622792" y="5175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lives here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85048" y="5522976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cluster sits inside this VPC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Console · Resource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2093976"/>
            <a:ext cx="11173968" cy="3079394"/>
          </a:xfrm>
          <a:prstGeom prst="roundRect">
            <a:avLst>
              <a:gd name="adj" fmla="val 1782"/>
            </a:avLst>
          </a:prstGeom>
          <a:solidFill>
            <a:srgbClr val="0F1728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ppt/shots/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11064240" cy="2969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4710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VPC-K8S-MASTERS  ·  4 subnets across 2 AZs  ·  IGW + NAT  —  the foundation the cluster runs 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141E33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225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 </a:t>
            </a:r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nodes · 3 masters + 3 workers · RHEL 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99816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809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 </a:t>
            </a:r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v1.36 · HAProxy in front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58184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393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 </a:t>
            </a:r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local-path-provisioner (default SC)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416552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97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host  </a:t>
            </a:r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podman  +  trivy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560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 </a:t>
            </a:r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· alnaqib/*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847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pipeline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651760"/>
            <a:ext cx="420624" cy="42062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651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5237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28895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multi-stage · --platform linux/amd64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547872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822192"/>
            <a:ext cx="420624" cy="42062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822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36941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0599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· HIGH &amp; CRITICAL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718304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992624"/>
            <a:ext cx="420624" cy="42062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992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95160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5230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alnaqib/vprofile-*:1.0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·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db01</a:t>
            </a:r>
            <a:endParaRPr lang="en-US" sz="3200" dirty="0"/>
          </a:p>
        </p:txBody>
      </p:sp>
      <p:pic>
        <p:nvPicPr>
          <p:cNvPr id="4" name="Image 0" descr="/home/claude/ppt/diagram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7818120" cy="38509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8288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50808" y="2029968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" name="Text 4"/>
          <p:cNvSpPr/>
          <p:nvPr/>
        </p:nvSpPr>
        <p:spPr>
          <a:xfrm>
            <a:off x="8988552" y="1938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50808" y="228600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image, seeded 'accounts' DB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8803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50808" y="308152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1" name="Text 8"/>
          <p:cNvSpPr/>
          <p:nvPr/>
        </p:nvSpPr>
        <p:spPr>
          <a:xfrm>
            <a:off x="8988552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50808" y="333756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on local-path · survives restarts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9319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413308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8988552" y="4041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Secret-fed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50808" y="43891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MYSQL_* from app-secret at runtime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49640" y="498348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50808" y="5184648"/>
            <a:ext cx="146304" cy="146304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19" name="Text 16"/>
          <p:cNvSpPr/>
          <p:nvPr/>
        </p:nvSpPr>
        <p:spPr>
          <a:xfrm>
            <a:off x="8988552" y="5093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750808" y="544068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pod owns the RWO volume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· APP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— app01</a:t>
            </a:r>
            <a:endParaRPr lang="en-US" sz="3200" dirty="0"/>
          </a:p>
        </p:txBody>
      </p:sp>
      <p:pic>
        <p:nvPicPr>
          <p:cNvPr id="4" name="Image 0" descr="/home/claude/ppt/diagrams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7818120" cy="40404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8288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50808" y="202996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8988552" y="1938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start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50808" y="228600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initContainers wait for db/mc/rmq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8803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50808" y="308152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8"/>
          <p:cNvSpPr/>
          <p:nvPr/>
        </p:nvSpPr>
        <p:spPr>
          <a:xfrm>
            <a:off x="8988552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Credential-free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50808" y="333756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baked in the image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9319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4133088"/>
            <a:ext cx="146304" cy="146304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988552" y="4041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mount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50808" y="43891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application.properties from Secret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49640" y="498348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50808" y="518464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9" name="Text 16"/>
          <p:cNvSpPr/>
          <p:nvPr/>
        </p:nvSpPr>
        <p:spPr>
          <a:xfrm>
            <a:off x="8988552" y="5093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probes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750808" y="544068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/login · liveness TCP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·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Broker</a:t>
            </a:r>
            <a:endParaRPr lang="en-US" sz="3200" dirty="0"/>
          </a:p>
        </p:txBody>
      </p:sp>
      <p:pic>
        <p:nvPicPr>
          <p:cNvPr id="4" name="Image 0" descr="/home/claude/ppt/diagrams/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7818120" cy="3594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8288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50808" y="2029968"/>
            <a:ext cx="146304" cy="146304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7" name="Text 4"/>
          <p:cNvSpPr/>
          <p:nvPr/>
        </p:nvSpPr>
        <p:spPr>
          <a:xfrm>
            <a:off x="8988552" y="1938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Memcached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50808" y="228600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 · lightens DB load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8803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50808" y="308152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8"/>
          <p:cNvSpPr/>
          <p:nvPr/>
        </p:nvSpPr>
        <p:spPr>
          <a:xfrm>
            <a:off x="8988552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50808" y="333756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producer / consumer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9319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413308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5" name="Text 12"/>
          <p:cNvSpPr/>
          <p:nvPr/>
        </p:nvSpPr>
        <p:spPr>
          <a:xfrm>
            <a:off x="8988552" y="4041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750808" y="43891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PVC — rebuilt on demand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· Layered Defense</a:t>
            </a:r>
            <a:endParaRPr lang="en-US" sz="3200" dirty="0"/>
          </a:p>
        </p:txBody>
      </p:sp>
      <p:pic>
        <p:nvPicPr>
          <p:cNvPr id="4" name="Image 0" descr="/home/claude/ppt/diagrams/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7955280" cy="40429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828800"/>
            <a:ext cx="297180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87968" y="202996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4"/>
          <p:cNvSpPr/>
          <p:nvPr/>
        </p:nvSpPr>
        <p:spPr>
          <a:xfrm>
            <a:off x="9125712" y="1938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Credential-free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87968" y="228600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cause fix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0" y="2880360"/>
            <a:ext cx="297180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87968" y="308152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/>
          <p:nvPr/>
        </p:nvSpPr>
        <p:spPr>
          <a:xfrm>
            <a:off x="9125712" y="29900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Single-source Secret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87968" y="333756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the password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0" y="3931920"/>
            <a:ext cx="297180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87968" y="413308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5" name="Text 12"/>
          <p:cNvSpPr/>
          <p:nvPr/>
        </p:nvSpPr>
        <p:spPr>
          <a:xfrm>
            <a:off x="9125712" y="4041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438912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who can read secrets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86800" y="4983480"/>
            <a:ext cx="2971800" cy="914400"/>
          </a:xfrm>
          <a:prstGeom prst="roundRect">
            <a:avLst>
              <a:gd name="adj" fmla="val 9000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87968" y="5184648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9" name="Text 16"/>
          <p:cNvSpPr/>
          <p:nvPr/>
        </p:nvSpPr>
        <p:spPr>
          <a:xfrm>
            <a:off x="9125712" y="5093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544068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etcd &amp; backups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vs RollingUpdate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751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is ReadWriteOnce — only one pod may hold it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would start a new pod before killing the old one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would fight over the same PV → corruption risk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stops the old pod first, then starts the new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751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tier — any pod is interchangeable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replicas updated gradually, no downtime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keeps flowing during the rollout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probe gates each new pod before it serves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· It's Alive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" y="1636776"/>
            <a:ext cx="7882128" cy="4685121"/>
          </a:xfrm>
          <a:prstGeom prst="roundRect">
            <a:avLst>
              <a:gd name="adj" fmla="val 1171"/>
            </a:avLst>
          </a:prstGeom>
          <a:solidFill>
            <a:srgbClr val="0F1728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ppt/shots/ge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7772400" cy="45753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737360"/>
            <a:ext cx="310896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2396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241280" y="182880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replicas ready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49640" y="2816352"/>
            <a:ext cx="310896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29077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0241280" y="290779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49640" y="3895344"/>
            <a:ext cx="310896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3986784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241280" y="3986784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· local-path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49640" y="4974336"/>
            <a:ext cx="3108960" cy="932688"/>
          </a:xfrm>
          <a:prstGeom prst="roundRect">
            <a:avLst>
              <a:gd name="adj" fmla="val 8824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5065776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0241280" y="506577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the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06440" cy="1005840"/>
          </a:xfrm>
          <a:prstGeom prst="roundRect">
            <a:avLst>
              <a:gd name="adj" fmla="val 8182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75688"/>
            <a:ext cx="420624" cy="42062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75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HAProxy (main)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313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http://13.48.177.232/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5806440" cy="1005840"/>
          </a:xfrm>
          <a:prstGeom prst="roundRect">
            <a:avLst>
              <a:gd name="adj" fmla="val 8182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420624" cy="42062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46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0998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NodePort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http://&lt;node-ip&gt;:30080/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5806440" cy="1005840"/>
          </a:xfrm>
          <a:prstGeom prst="roundRect">
            <a:avLst>
              <a:gd name="adj" fmla="val 8182"/>
            </a:avLst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16552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16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70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542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svc/app01 8080:8080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admin_vp / admin_vp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11696" y="2093976"/>
            <a:ext cx="5047488" cy="3016448"/>
          </a:xfrm>
          <a:prstGeom prst="roundRect">
            <a:avLst>
              <a:gd name="adj" fmla="val 1819"/>
            </a:avLst>
          </a:prstGeom>
          <a:solidFill>
            <a:srgbClr val="0F1728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0" descr="/home/claude/ppt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48840"/>
            <a:ext cx="4937760" cy="2906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66560" y="51652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VProfile login page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Application,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636776"/>
            <a:ext cx="7790688" cy="4631293"/>
          </a:xfrm>
          <a:prstGeom prst="roundRect">
            <a:avLst>
              <a:gd name="adj" fmla="val 1185"/>
            </a:avLst>
          </a:prstGeom>
          <a:solidFill>
            <a:srgbClr val="0F1728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ppt/shots/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680960" cy="4521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as admin_vp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78240" y="24688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succeeded →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&amp; profile render →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OK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through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HIT &amp; FIXED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75688"/>
            <a:ext cx="146304" cy="146304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health check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returned 302 → all backends marked DOWN → 503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health-check GET /login (returns 200)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1E3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075688"/>
            <a:ext cx="146304" cy="14630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auth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4414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caching_sha2_password broke the JDBC connection over plain TCP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force mysql_native_password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1E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2452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14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 the image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was baked into the WAR at build 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303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credential-free image + mounted Secret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1E33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224528"/>
            <a:ext cx="146304" cy="146304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114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 routing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37960" y="45902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pointed at wrong worker IPs → no traffic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5303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real INTERNAL-IPs from get nodes -o wide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GRATITUDE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37360" y="2148840"/>
            <a:ext cx="8686800" cy="3108960"/>
          </a:xfrm>
          <a:prstGeom prst="roundRect">
            <a:avLst>
              <a:gd name="adj" fmla="val 2647"/>
            </a:avLst>
          </a:prstGeom>
          <a:solidFill>
            <a:srgbClr val="141E33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2514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Eng. Abdelrahman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77440" y="324612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4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guidance, the clear explanations, and the hands-on mentorship that made this project possible. Your patience in teaching the “why” behind every step — not just the “how” — is what turned these tools into real understanding.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3" name="Image 0" descr="/home/claude/ppt/assets/sign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468880"/>
            <a:ext cx="5852160" cy="2106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VProfile on Kubernetes  ·  DevOps  ·  Cairo  · 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2026-07-18T05:44:24Z</dcterms:created>
  <dcterms:modified xsi:type="dcterms:W3CDTF">2026-07-18T05:44:24Z</dcterms:modified>
</cp:coreProperties>
</file>